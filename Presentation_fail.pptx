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4" r:id="rId5"/>
    <p:sldId id="265" r:id="rId6"/>
    <p:sldId id="266" r:id="rId7"/>
    <p:sldId id="268" r:id="rId8"/>
    <p:sldId id="267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2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2A0606E-E5AE-42D8-8817-0B313D99726B}" type="datetimeFigureOut">
              <a:rPr lang="en-US" smtClean="0"/>
              <a:t>6/27/2018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F870FD3-19B1-4EF5-B421-0C5AB3FAB2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hyperlink" Target="https://www.ncbi.nlm.nih.gov/pubmed/27414696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ubmed/?term=Lieberman%20HR%5bAuthor%5d&amp;cauthor=true&amp;cauthor_uid=27414696" TargetMode="External"/><Relationship Id="rId5" Type="http://schemas.openxmlformats.org/officeDocument/2006/relationships/hyperlink" Target="https://www.ncbi.nlm.nih.gov/pubmed/?term=Gabrieli%20JD%5bAuthor%5d&amp;cauthor=true&amp;cauthor_uid=27414696" TargetMode="External"/><Relationship Id="rId4" Type="http://schemas.openxmlformats.org/officeDocument/2006/relationships/hyperlink" Target="https://www.ncbi.nlm.nih.gov/pubmed/?term=Amendola%20CA%5bAuthor%5d&amp;cauthor=true&amp;cauthor_uid=27414696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ework.withgoogle.com/blog/five-keys-to-a-successful-google-tea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534400" cy="6858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Chris Amendola – Joined Optum Team June 12</a:t>
            </a:r>
            <a:r>
              <a:rPr lang="en-US" sz="32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2017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43000"/>
            <a:ext cx="5083521" cy="5334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Married to my Wife, Kay, 17 years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Sons: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Gannon-15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Garrison-10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Houston, TX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Senior IT Data Analytics Consultant, Impact Implementation Team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Co-Moderator of UHG HUB SAS Users Group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Analyst “Hats”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pic>
        <p:nvPicPr>
          <p:cNvPr id="1026" name="Picture 2" descr="C:\Users\camendol\Pictures\FullSizeRend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792" y="1722376"/>
            <a:ext cx="99695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camendol\Pictures\faces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707287"/>
            <a:ext cx="14478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3600" y="1707287"/>
            <a:ext cx="2438400" cy="1754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days I am in full-on ‘Dad-mode’ and my interests and activities are pretty much whatever my kids are doing </a:t>
            </a:r>
            <a:r>
              <a:rPr lang="en-US" i="1" dirty="0" smtClean="0">
                <a:sym typeface="Wingdings" panose="05000000000000000000" pitchFamily="2" charset="2"/>
              </a:rPr>
              <a:t>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200" y="3843276"/>
            <a:ext cx="3505200" cy="193899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Odd Tidbit about myself:</a:t>
            </a:r>
          </a:p>
          <a:p>
            <a:endParaRPr lang="en-US" sz="1200" b="1" dirty="0"/>
          </a:p>
          <a:p>
            <a:r>
              <a:rPr lang="en-US" sz="1200" b="1" dirty="0" smtClean="0"/>
              <a:t>Caffeine's Effects on Performance and Mood are Independent of Age and Gender.</a:t>
            </a:r>
          </a:p>
          <a:p>
            <a:r>
              <a:rPr lang="en-US" sz="1200" u="sng" dirty="0" smtClean="0">
                <a:hlinkClick r:id="rId4"/>
              </a:rPr>
              <a:t>Amendola CA</a:t>
            </a:r>
            <a:r>
              <a:rPr lang="en-US" sz="1200" baseline="30000" dirty="0" smtClean="0">
                <a:effectLst/>
              </a:rPr>
              <a:t>1</a:t>
            </a:r>
            <a:r>
              <a:rPr lang="en-US" sz="1200" dirty="0" smtClean="0">
                <a:effectLst/>
              </a:rPr>
              <a:t>, </a:t>
            </a:r>
            <a:r>
              <a:rPr lang="en-US" sz="1200" u="sng" dirty="0" err="1" smtClean="0">
                <a:hlinkClick r:id="rId5"/>
              </a:rPr>
              <a:t>Gabrieli</a:t>
            </a:r>
            <a:r>
              <a:rPr lang="en-US" sz="1200" u="sng" dirty="0" smtClean="0">
                <a:hlinkClick r:id="rId5"/>
              </a:rPr>
              <a:t> JD</a:t>
            </a:r>
            <a:r>
              <a:rPr lang="en-US" sz="1200" baseline="30000" dirty="0" smtClean="0">
                <a:effectLst/>
              </a:rPr>
              <a:t>1</a:t>
            </a:r>
            <a:r>
              <a:rPr lang="en-US" sz="1200" dirty="0" smtClean="0">
                <a:effectLst/>
              </a:rPr>
              <a:t>, </a:t>
            </a:r>
            <a:r>
              <a:rPr lang="en-US" sz="1200" u="sng" dirty="0" smtClean="0">
                <a:hlinkClick r:id="rId6"/>
              </a:rPr>
              <a:t>Lieberman HR</a:t>
            </a:r>
            <a:r>
              <a:rPr lang="en-US" sz="1200" baseline="30000" dirty="0" smtClean="0">
                <a:effectLst/>
              </a:rPr>
              <a:t>1</a:t>
            </a:r>
            <a:r>
              <a:rPr lang="en-US" sz="1200" dirty="0" smtClean="0">
                <a:effectLst/>
              </a:rPr>
              <a:t>.</a:t>
            </a:r>
            <a:endParaRPr lang="en-US" sz="1200" dirty="0" smtClean="0">
              <a:hlinkClick r:id="rId7"/>
            </a:endParaRPr>
          </a:p>
          <a:p>
            <a:endParaRPr lang="en-US" sz="1200" dirty="0" smtClean="0">
              <a:hlinkClick r:id="rId7"/>
            </a:endParaRPr>
          </a:p>
          <a:p>
            <a:r>
              <a:rPr lang="en-US" sz="1200" u="sng" dirty="0" err="1" smtClean="0">
                <a:hlinkClick r:id="rId7" tooltip="Nutritional neuroscience."/>
              </a:rPr>
              <a:t>Nutr</a:t>
            </a:r>
            <a:r>
              <a:rPr lang="en-US" sz="1200" u="sng" dirty="0" smtClean="0">
                <a:hlinkClick r:id="rId7" tooltip="Nutritional neuroscience."/>
              </a:rPr>
              <a:t> </a:t>
            </a:r>
            <a:r>
              <a:rPr lang="en-US" sz="1200" u="sng" dirty="0" err="1" smtClean="0">
                <a:hlinkClick r:id="rId7" tooltip="Nutritional neuroscience."/>
              </a:rPr>
              <a:t>Neurosci</a:t>
            </a:r>
            <a:r>
              <a:rPr lang="en-US" sz="1200" u="sng" dirty="0" smtClean="0">
                <a:hlinkClick r:id="rId7" tooltip="Nutritional neuroscience."/>
              </a:rPr>
              <a:t>.</a:t>
            </a:r>
            <a:r>
              <a:rPr lang="en-US" sz="1200" dirty="0" smtClean="0">
                <a:effectLst/>
              </a:rPr>
              <a:t> 1998;1(4):269-80. </a:t>
            </a:r>
            <a:r>
              <a:rPr lang="en-US" sz="1200" dirty="0" err="1" smtClean="0">
                <a:effectLst/>
              </a:rPr>
              <a:t>doi</a:t>
            </a:r>
            <a:r>
              <a:rPr lang="en-US" sz="1200" dirty="0" smtClean="0">
                <a:effectLst/>
              </a:rPr>
              <a:t>: 10.1080/1028415X.1998.11747237.</a:t>
            </a:r>
          </a:p>
          <a:p>
            <a:endParaRPr lang="en-US" sz="1200" dirty="0">
              <a:hlinkClick r:id="rId7"/>
            </a:endParaRPr>
          </a:p>
          <a:p>
            <a:r>
              <a:rPr lang="en-US" sz="1200" dirty="0" smtClean="0">
                <a:hlinkClick r:id="rId7"/>
              </a:rPr>
              <a:t>https://www.ncbi.nlm.nih.gov/pubmed/27414696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4820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Abstract presented by Team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2" y="1981200"/>
            <a:ext cx="7126287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00400" y="129540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June 29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2017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9844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Summary – stealing from Twain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“Success is the resistance to failure, mastery of failure, not the absence of failure.”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49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Failure as Gravity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notion of gravity as pervasive and somehow unavoidable is appealing – objective!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Yet the definition they offer of failure adds a subjective component – ‘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mistakes”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unwelcome outcomes that matter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Failure has a large subjective component – Bronze Medal reactions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Edison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Wozniack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never “failed” – since every effort was a learning experience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https://hubconnect.uhg.com/docs/DOC-135860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38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failure is far more destructive than failure itself.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five keys to a successful Google team</a:t>
            </a:r>
          </a:p>
          <a:p>
            <a:pPr lvl="1"/>
            <a:r>
              <a:rPr lang="en-US" sz="16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Julia </a:t>
            </a:r>
            <a:r>
              <a:rPr lang="en-US" sz="1600" cap="all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Rozovsky</a:t>
            </a:r>
            <a:r>
              <a:rPr lang="en-US" sz="16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Analyst, </a:t>
            </a:r>
            <a:r>
              <a:rPr lang="en-US" sz="16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PEOPLE OPERATIONS NOVEMBER 17, </a:t>
            </a:r>
            <a:r>
              <a:rPr lang="en-US" sz="16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://rework.withgoogle.com/blog/five-keys-to-a-successful-google-team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on a team matters less than how the team members interact, structure their work, and view their contributions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#1-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safety: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Can we take risks on this team without feeling insecure or embarrassed?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79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your reaction to a problem doesn’t create more failure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How Complex Systems Fail</a:t>
            </a:r>
          </a:p>
          <a:p>
            <a:pPr marL="0" indent="0" algn="ctr">
              <a:buNone/>
            </a:pPr>
            <a:r>
              <a:rPr lang="en-US" i="1" dirty="0"/>
              <a:t>(Being a Short Treatise on the Nature of Failure; How Failure is Evaluated; How Failure is</a:t>
            </a:r>
          </a:p>
          <a:p>
            <a:pPr marL="0" indent="0" algn="ctr">
              <a:buNone/>
            </a:pPr>
            <a:r>
              <a:rPr lang="en-US" i="1" dirty="0"/>
              <a:t>Attributed to Proximate Cause; and the Resulting New Understanding of Patient Safety)</a:t>
            </a:r>
          </a:p>
          <a:p>
            <a:pPr marL="0" indent="0" algn="ctr">
              <a:buNone/>
            </a:pPr>
            <a:r>
              <a:rPr lang="en-US" dirty="0"/>
              <a:t>Richard I. Cook, MD</a:t>
            </a:r>
          </a:p>
          <a:p>
            <a:pPr marL="0" indent="0" algn="ctr">
              <a:buNone/>
            </a:pPr>
            <a:r>
              <a:rPr lang="en-US" dirty="0"/>
              <a:t>Cognitive technologies Laboratory</a:t>
            </a:r>
          </a:p>
          <a:p>
            <a:pPr marL="0" indent="0" algn="ctr">
              <a:buNone/>
            </a:pPr>
            <a:r>
              <a:rPr lang="en-US" dirty="0"/>
              <a:t>University of Chicago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55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your reaction to a problem doesn’t create more failure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such reasoning as ‘root cause’ do not reflect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understanding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nature of failure but rather the social, cultural need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blame specific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localized forces or events for outcomes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“Hindsight bias remains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obstacle to accident investigation, especially when expert human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practitioner actions are gambles appears clear after accidents; in general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 hoc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regards these gambles as poor ones. But the converse: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outcomes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the result of gambles; is not widely appreciated.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20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 a study that failed to find effects.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Caffeine's Effects on Performance and Mood are Independent of Age and Gender.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to account for age related differences in mood first, but otherwise no differences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finding because it means experimental designs don’t have to account for age/gender mix in the experimental cohort.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0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Starter Question: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265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1784</TotalTime>
  <Words>457</Words>
  <Application>Microsoft Office PowerPoint</Application>
  <PresentationFormat>On-screen Show (4:3)</PresentationFormat>
  <Paragraphs>61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Clarity</vt:lpstr>
      <vt:lpstr>Chris Amendola – Joined Optum Team June 12th 2017</vt:lpstr>
      <vt:lpstr>Get Abstract presented by Team exCITe </vt:lpstr>
      <vt:lpstr>My Summary – stealing from Twain</vt:lpstr>
      <vt:lpstr>Failure as Gravity</vt:lpstr>
      <vt:lpstr>Fear of failure is far more destructive than failure itself.</vt:lpstr>
      <vt:lpstr>Make sure your reaction to a problem doesn’t create more failure.</vt:lpstr>
      <vt:lpstr>Make sure your reaction to a problem doesn’t create more failure.(cont.)</vt:lpstr>
      <vt:lpstr>Publish a study that failed to find effects.</vt:lpstr>
      <vt:lpstr>Starter Question:</vt:lpstr>
    </vt:vector>
  </TitlesOfParts>
  <Company>UnitedHealth 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Amendola, Christopher A</dc:creator>
  <cp:lastModifiedBy>Amendola, Christopher A</cp:lastModifiedBy>
  <cp:revision>27</cp:revision>
  <dcterms:created xsi:type="dcterms:W3CDTF">2018-06-23T18:11:29Z</dcterms:created>
  <dcterms:modified xsi:type="dcterms:W3CDTF">2018-06-27T16:33:02Z</dcterms:modified>
</cp:coreProperties>
</file>