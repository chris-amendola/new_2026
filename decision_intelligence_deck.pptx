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ision Intelligence: Elevating Judgment and Forecasting" id="{BFCF1F48-DB45-4916-8C51-8A0BB1AD90C6}">
          <p14:sldIdLst>
            <p14:sldId id="2561"/>
          </p14:sldIdLst>
        </p14:section>
        <p14:section name="Introduction &amp; Objectives" id="{51AEAB5E-5AC6-4A92-AEE7-01228F78195B}">
          <p14:sldIdLst>
            <p14:sldId id="2562"/>
            <p14:sldId id="2563"/>
          </p14:sldIdLst>
        </p14:section>
        <p14:section name="Kahneman: Cognitive Biases &amp; Thinking Systems" id="{E5E3D958-D335-407A-864B-E50FF8557613}">
          <p14:sldIdLst>
            <p14:sldId id="2564"/>
            <p14:sldId id="2565"/>
          </p14:sldIdLst>
        </p14:section>
        <p14:section name="Tetlock: Forecasting &amp; Superforecasting" id="{B49F74D7-DE9F-482C-91F8-D11C2FDBA56D}">
          <p14:sldIdLst>
            <p14:sldId id="2566"/>
            <p14:sldId id="2567"/>
          </p14:sldIdLst>
        </p14:section>
        <p14:section name="Spiegelhalter: Risk, Uncertainty &amp; Communication" id="{DE2ECB7B-B954-4165-944E-FDC1CCDF4ABC}">
          <p14:sldIdLst>
            <p14:sldId id="2568"/>
            <p14:sldId id="2569"/>
          </p14:sldIdLst>
        </p14:section>
        <p14:section name="Integration Framework" id="{4D5E1B14-E87E-48CA-87B8-D41F31C0CAF5}">
          <p14:sldIdLst>
            <p14:sldId id="2570"/>
            <p14:sldId id="2571"/>
          </p14:sldIdLst>
        </p14:section>
        <p14:section name="Closing Thoughts" id="{AEFCD87D-F84C-4993-BA5E-FCB9DB4DCE28}">
          <p14:sldIdLst>
            <p14:sldId id="2572"/>
            <p14:sldId id="257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1055F-AFCA-485B-B314-F45F3AE4E606}" v="16" dt="2025-11-25T15:46:39.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895B5B-C8B1-4C4E-9760-E22706C33914}" type="datetimeFigureOut">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FA3D54-0994-45F9-9292-FDBE43F83BB1}" type="slidenum">
              <a:t>‹#›</a:t>
            </a:fld>
            <a:endParaRPr lang="en-US"/>
          </a:p>
        </p:txBody>
      </p:sp>
    </p:spTree>
    <p:extLst>
      <p:ext uri="{BB962C8B-B14F-4D97-AF65-F5344CB8AC3E}">
        <p14:creationId xmlns:p14="http://schemas.microsoft.com/office/powerpoint/2010/main" val="324978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0BAE2E8-A3CF-44B3-9C05-B2152AC82E08}" type="slidenum">
              <a:t>1</a:t>
            </a:fld>
            <a:endParaRPr lang="en-US"/>
          </a:p>
        </p:txBody>
      </p:sp>
    </p:spTree>
    <p:extLst>
      <p:ext uri="{BB962C8B-B14F-4D97-AF65-F5344CB8AC3E}">
        <p14:creationId xmlns:p14="http://schemas.microsoft.com/office/powerpoint/2010/main" val="20789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Defining Decision Intelligence and Its Importance</a:t>
            </a:r>
          </a:p>
        </p:txBody>
      </p:sp>
      <p:sp>
        <p:nvSpPr>
          <p:cNvPr id="4" name="Slide Number Placeholder 3"/>
          <p:cNvSpPr>
            <a:spLocks noGrp="1"/>
          </p:cNvSpPr>
          <p:nvPr>
            <p:ph type="sldNum" sz="quarter" idx="5"/>
          </p:nvPr>
        </p:nvSpPr>
        <p:spPr/>
        <p:txBody>
          <a:bodyPr/>
          <a:lstStyle/>
          <a:p>
            <a:fld id="{E0BAE2E8-A3CF-44B3-9C05-B2152AC82E08}" type="slidenum">
              <a:t>2</a:t>
            </a:fld>
            <a:endParaRPr lang="en-US"/>
          </a:p>
        </p:txBody>
      </p:sp>
    </p:spTree>
    <p:extLst>
      <p:ext uri="{BB962C8B-B14F-4D97-AF65-F5344CB8AC3E}">
        <p14:creationId xmlns:p14="http://schemas.microsoft.com/office/powerpoint/2010/main" val="3158915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Decision Intelligence is the integration of data science, behavioral science, and decision theory to improve organizational decision-making. For principal-level data professionals, this concept is critical because it moves beyond building accurate models to influencing strategic decisions that have real-world impact. The importance lies in reducing cognitive traps and biases that can distort interpretation of data and lead to poor decisions. Decision Intelligence emphasizes structured thinking, probabilistic reasoning, and transparent communication of uncertainty. It ensures that data leaders can diagnose decision problems, design robust forecasting methods, and deliver insights that stakeholders trust. By applying these principles, professionals can elevate their role from technical execution to strategic leadership, guiding organizations through complex, uncertain environments with clarity and confidence.</a:t>
            </a:r>
          </a:p>
        </p:txBody>
      </p:sp>
      <p:sp>
        <p:nvSpPr>
          <p:cNvPr id="4" name="Slide Number Placeholder 3"/>
          <p:cNvSpPr>
            <a:spLocks noGrp="1"/>
          </p:cNvSpPr>
          <p:nvPr>
            <p:ph type="sldNum" sz="quarter" idx="5"/>
          </p:nvPr>
        </p:nvSpPr>
        <p:spPr/>
        <p:txBody>
          <a:bodyPr/>
          <a:lstStyle/>
          <a:p>
            <a:fld id="{E0BAE2E8-A3CF-44B3-9C05-B2152AC82E08}" type="slidenum">
              <a:t>3</a:t>
            </a:fld>
            <a:endParaRPr lang="en-US"/>
          </a:p>
        </p:txBody>
      </p:sp>
    </p:spTree>
    <p:extLst>
      <p:ext uri="{BB962C8B-B14F-4D97-AF65-F5344CB8AC3E}">
        <p14:creationId xmlns:p14="http://schemas.microsoft.com/office/powerpoint/2010/main" val="16748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1 vs System 2 and Key Biases</a:t>
            </a:r>
          </a:p>
        </p:txBody>
      </p:sp>
      <p:sp>
        <p:nvSpPr>
          <p:cNvPr id="4" name="Slide Number Placeholder 3"/>
          <p:cNvSpPr>
            <a:spLocks noGrp="1"/>
          </p:cNvSpPr>
          <p:nvPr>
            <p:ph type="sldNum" sz="quarter" idx="5"/>
          </p:nvPr>
        </p:nvSpPr>
        <p:spPr/>
        <p:txBody>
          <a:bodyPr/>
          <a:lstStyle/>
          <a:p>
            <a:fld id="{E0BAE2E8-A3CF-44B3-9C05-B2152AC82E08}" type="slidenum">
              <a:t>4</a:t>
            </a:fld>
            <a:endParaRPr lang="en-US"/>
          </a:p>
        </p:txBody>
      </p:sp>
    </p:spTree>
    <p:extLst>
      <p:ext uri="{BB962C8B-B14F-4D97-AF65-F5344CB8AC3E}">
        <p14:creationId xmlns:p14="http://schemas.microsoft.com/office/powerpoint/2010/main" val="243971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Daniel Kahneman’s work in 'Thinking, Fast and Slow' introduces two modes of thinking: System 1 and System 2. System 1 is fast, intuitive, and automatic, while System 2 is slow, deliberate, and analytical. Data professionals often rely on System 2 for rigorous analysis, but System 1 can unconsciously influence judgments, leading to biases. Common biases include overconfidence, where professionals overestimate their predictive accuracy; anchoring, where initial estimates skew subsequent analysis; and availability heuristic, where recent or vivid data disproportionately affects decisions. These biases can undermine even the most sophisticated models. To mitigate them, Kahneman advocates techniques like premortem analysis, which involves imagining a future failure and identifying its causes before making a decision. This proactive approach helps teams uncover hidden assumptions and reduce cognitive blind spots.</a:t>
            </a:r>
          </a:p>
        </p:txBody>
      </p:sp>
      <p:sp>
        <p:nvSpPr>
          <p:cNvPr id="4" name="Slide Number Placeholder 3"/>
          <p:cNvSpPr>
            <a:spLocks noGrp="1"/>
          </p:cNvSpPr>
          <p:nvPr>
            <p:ph type="sldNum" sz="quarter" idx="5"/>
          </p:nvPr>
        </p:nvSpPr>
        <p:spPr/>
        <p:txBody>
          <a:bodyPr/>
          <a:lstStyle/>
          <a:p>
            <a:fld id="{E0BAE2E8-A3CF-44B3-9C05-B2152AC82E08}" type="slidenum">
              <a:t>5</a:t>
            </a:fld>
            <a:endParaRPr lang="en-US"/>
          </a:p>
        </p:txBody>
      </p:sp>
    </p:spTree>
    <p:extLst>
      <p:ext uri="{BB962C8B-B14F-4D97-AF65-F5344CB8AC3E}">
        <p14:creationId xmlns:p14="http://schemas.microsoft.com/office/powerpoint/2010/main" val="3444340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Improving Forecast Accuracy Through Structured Methods</a:t>
            </a:r>
          </a:p>
        </p:txBody>
      </p:sp>
      <p:sp>
        <p:nvSpPr>
          <p:cNvPr id="4" name="Slide Number Placeholder 3"/>
          <p:cNvSpPr>
            <a:spLocks noGrp="1"/>
          </p:cNvSpPr>
          <p:nvPr>
            <p:ph type="sldNum" sz="quarter" idx="5"/>
          </p:nvPr>
        </p:nvSpPr>
        <p:spPr/>
        <p:txBody>
          <a:bodyPr/>
          <a:lstStyle/>
          <a:p>
            <a:fld id="{E0BAE2E8-A3CF-44B3-9C05-B2152AC82E08}" type="slidenum">
              <a:t>6</a:t>
            </a:fld>
            <a:endParaRPr lang="en-US"/>
          </a:p>
        </p:txBody>
      </p:sp>
    </p:spTree>
    <p:extLst>
      <p:ext uri="{BB962C8B-B14F-4D97-AF65-F5344CB8AC3E}">
        <p14:creationId xmlns:p14="http://schemas.microsoft.com/office/powerpoint/2010/main" val="1014693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Philip Tetlock’s research in 'Expert Political Judgment' revealed that experts often perform worse than chance when making predictions without structured methods. His subsequent work on superforecasting identifies practices that significantly improve forecasting accuracy. These include breaking complex problems into smaller components, applying Bayesian updating to revise probabilities as new information emerges, and maintaining probabilistic humility by assigning confidence intervals rather than absolute predictions. Superforecasters also aggregate diverse viewpoints and continuously learn from feedback. For data professionals, adopting these principles means moving beyond deterministic models to probabilistic thinking, using metrics like the Brier Score to evaluate forecast quality. This structured approach enhances credibility and ensures that forecasts are actionable and resilient in uncertain environments.</a:t>
            </a:r>
          </a:p>
        </p:txBody>
      </p:sp>
      <p:sp>
        <p:nvSpPr>
          <p:cNvPr id="4" name="Slide Number Placeholder 3"/>
          <p:cNvSpPr>
            <a:spLocks noGrp="1"/>
          </p:cNvSpPr>
          <p:nvPr>
            <p:ph type="sldNum" sz="quarter" idx="5"/>
          </p:nvPr>
        </p:nvSpPr>
        <p:spPr/>
        <p:txBody>
          <a:bodyPr/>
          <a:lstStyle/>
          <a:p>
            <a:fld id="{E0BAE2E8-A3CF-44B3-9C05-B2152AC82E08}" type="slidenum">
              <a:t>7</a:t>
            </a:fld>
            <a:endParaRPr lang="en-US"/>
          </a:p>
        </p:txBody>
      </p:sp>
    </p:spTree>
    <p:extLst>
      <p:ext uri="{BB962C8B-B14F-4D97-AF65-F5344CB8AC3E}">
        <p14:creationId xmlns:p14="http://schemas.microsoft.com/office/powerpoint/2010/main" val="3024879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Communicating Uncertainty Effectively</a:t>
            </a:r>
          </a:p>
        </p:txBody>
      </p:sp>
      <p:sp>
        <p:nvSpPr>
          <p:cNvPr id="4" name="Slide Number Placeholder 3"/>
          <p:cNvSpPr>
            <a:spLocks noGrp="1"/>
          </p:cNvSpPr>
          <p:nvPr>
            <p:ph type="sldNum" sz="quarter" idx="5"/>
          </p:nvPr>
        </p:nvSpPr>
        <p:spPr/>
        <p:txBody>
          <a:bodyPr/>
          <a:lstStyle/>
          <a:p>
            <a:fld id="{E0BAE2E8-A3CF-44B3-9C05-B2152AC82E08}" type="slidenum">
              <a:t>8</a:t>
            </a:fld>
            <a:endParaRPr lang="en-US"/>
          </a:p>
        </p:txBody>
      </p:sp>
    </p:spTree>
    <p:extLst>
      <p:ext uri="{BB962C8B-B14F-4D97-AF65-F5344CB8AC3E}">
        <p14:creationId xmlns:p14="http://schemas.microsoft.com/office/powerpoint/2010/main" val="1423256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David Spiegelhalter emphasizes the distinction between risk and uncertainty: risk involves quantifiable probabilities, while uncertainty refers to unknown unknowns. Communicating these concepts effectively is essential for informed decision-making. Spiegelhalter advocates using frequency formats (e.g., '1 in 100') instead of vague percentages, and visual aids like icon arrays to make probabilities tangible. He warns against false precision, urging professionals to present ranges and confidence intervals rather than single-point estimates. Clear communication of uncertainty builds trust and prevents misinterpretation of data. For principal-level professionals, mastering these techniques ensures that stakeholders understand both the limitations and strengths of predictive models, enabling better strategic decisions under uncertainty.</a:t>
            </a:r>
          </a:p>
        </p:txBody>
      </p:sp>
      <p:sp>
        <p:nvSpPr>
          <p:cNvPr id="4" name="Slide Number Placeholder 3"/>
          <p:cNvSpPr>
            <a:spLocks noGrp="1"/>
          </p:cNvSpPr>
          <p:nvPr>
            <p:ph type="sldNum" sz="quarter" idx="5"/>
          </p:nvPr>
        </p:nvSpPr>
        <p:spPr/>
        <p:txBody>
          <a:bodyPr/>
          <a:lstStyle/>
          <a:p>
            <a:fld id="{E0BAE2E8-A3CF-44B3-9C05-B2152AC82E08}" type="slidenum">
              <a:t>9</a:t>
            </a:fld>
            <a:endParaRPr lang="en-US"/>
          </a:p>
        </p:txBody>
      </p:sp>
    </p:spTree>
    <p:extLst>
      <p:ext uri="{BB962C8B-B14F-4D97-AF65-F5344CB8AC3E}">
        <p14:creationId xmlns:p14="http://schemas.microsoft.com/office/powerpoint/2010/main" val="2227030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Combining Insights into a Practical Framework</a:t>
            </a:r>
          </a:p>
        </p:txBody>
      </p:sp>
      <p:sp>
        <p:nvSpPr>
          <p:cNvPr id="4" name="Slide Number Placeholder 3"/>
          <p:cNvSpPr>
            <a:spLocks noGrp="1"/>
          </p:cNvSpPr>
          <p:nvPr>
            <p:ph type="sldNum" sz="quarter" idx="5"/>
          </p:nvPr>
        </p:nvSpPr>
        <p:spPr/>
        <p:txBody>
          <a:bodyPr/>
          <a:lstStyle/>
          <a:p>
            <a:fld id="{E0BAE2E8-A3CF-44B3-9C05-B2152AC82E08}" type="slidenum">
              <a:t>10</a:t>
            </a:fld>
            <a:endParaRPr lang="en-US"/>
          </a:p>
        </p:txBody>
      </p:sp>
    </p:spTree>
    <p:extLst>
      <p:ext uri="{BB962C8B-B14F-4D97-AF65-F5344CB8AC3E}">
        <p14:creationId xmlns:p14="http://schemas.microsoft.com/office/powerpoint/2010/main" val="1960948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integration of Kahneman, Tetlock, and Spiegelhalter’s insights forms a robust Decision Intelligence framework. It consists of three pillars: Diagnose, Design, and Deliver. Diagnose involves identifying cognitive traps and biases that may distort analysis. Design focuses on structuring forecasts using probabilistic thinking and superforecasting principles, ensuring rigor and adaptability. Deliver emphasizes transparent communication of risk and uncertainty, using Spiegelhalter’s guidelines to avoid false precision and foster stakeholder trust. This framework empowers data leaders to navigate complexity with clarity, combining behavioral insights with analytical rigor. By applying these principles consistently, organizations can make decisions that are not only data-driven but also psychologically sound and strategically robust.</a:t>
            </a:r>
          </a:p>
        </p:txBody>
      </p:sp>
      <p:sp>
        <p:nvSpPr>
          <p:cNvPr id="4" name="Slide Number Placeholder 3"/>
          <p:cNvSpPr>
            <a:spLocks noGrp="1"/>
          </p:cNvSpPr>
          <p:nvPr>
            <p:ph type="sldNum" sz="quarter" idx="5"/>
          </p:nvPr>
        </p:nvSpPr>
        <p:spPr/>
        <p:txBody>
          <a:bodyPr/>
          <a:lstStyle/>
          <a:p>
            <a:fld id="{E0BAE2E8-A3CF-44B3-9C05-B2152AC82E08}" type="slidenum">
              <a:t>11</a:t>
            </a:fld>
            <a:endParaRPr lang="en-US"/>
          </a:p>
        </p:txBody>
      </p:sp>
    </p:spTree>
    <p:extLst>
      <p:ext uri="{BB962C8B-B14F-4D97-AF65-F5344CB8AC3E}">
        <p14:creationId xmlns:p14="http://schemas.microsoft.com/office/powerpoint/2010/main" val="41765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Better Minds + Better Methods = Better Decisions</a:t>
            </a:r>
          </a:p>
        </p:txBody>
      </p:sp>
      <p:sp>
        <p:nvSpPr>
          <p:cNvPr id="4" name="Slide Number Placeholder 3"/>
          <p:cNvSpPr>
            <a:spLocks noGrp="1"/>
          </p:cNvSpPr>
          <p:nvPr>
            <p:ph type="sldNum" sz="quarter" idx="5"/>
          </p:nvPr>
        </p:nvSpPr>
        <p:spPr/>
        <p:txBody>
          <a:bodyPr/>
          <a:lstStyle/>
          <a:p>
            <a:fld id="{E0BAE2E8-A3CF-44B3-9C05-B2152AC82E08}" type="slidenum">
              <a:t>12</a:t>
            </a:fld>
            <a:endParaRPr lang="en-US"/>
          </a:p>
        </p:txBody>
      </p:sp>
    </p:spTree>
    <p:extLst>
      <p:ext uri="{BB962C8B-B14F-4D97-AF65-F5344CB8AC3E}">
        <p14:creationId xmlns:p14="http://schemas.microsoft.com/office/powerpoint/2010/main" val="2194694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essence of Decision Intelligence lies in the synergy between cognitive awareness and analytical precision. Kahneman teaches us to recognize and mitigate biases, Tetlock shows how structured forecasting improves judgment, and Spiegelhalter demonstrates the importance of clear communication of uncertainty. Together, these insights enable data professionals to elevate their impact from technical execution to strategic leadership. Better minds, equipped with behavioral understanding, combined with better methods rooted in probabilistic reasoning, lead to better decisions. This approach ensures that organizations thrive in uncertain environments, making choices that are informed, transparent, and resilient.</a:t>
            </a:r>
          </a:p>
        </p:txBody>
      </p:sp>
      <p:sp>
        <p:nvSpPr>
          <p:cNvPr id="4" name="Slide Number Placeholder 3"/>
          <p:cNvSpPr>
            <a:spLocks noGrp="1"/>
          </p:cNvSpPr>
          <p:nvPr>
            <p:ph type="sldNum" sz="quarter" idx="5"/>
          </p:nvPr>
        </p:nvSpPr>
        <p:spPr/>
        <p:txBody>
          <a:bodyPr/>
          <a:lstStyle/>
          <a:p>
            <a:fld id="{E0BAE2E8-A3CF-44B3-9C05-B2152AC82E08}" type="slidenum">
              <a:t>13</a:t>
            </a:fld>
            <a:endParaRPr lang="en-US"/>
          </a:p>
        </p:txBody>
      </p:sp>
    </p:spTree>
    <p:extLst>
      <p:ext uri="{BB962C8B-B14F-4D97-AF65-F5344CB8AC3E}">
        <p14:creationId xmlns:p14="http://schemas.microsoft.com/office/powerpoint/2010/main" val="2344422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11/25/2025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11/25/2025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11/25/2025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11/25/2025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11/25/2025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11/25/2025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11/25/2025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11/25/2025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11/25/2025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11/25/2025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11/25/2025</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11/25/2025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11/25/2025</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11/25/2025</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11/25/2025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11/25/2025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11/25/2025</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11/25/2025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11/25/2025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11/25/2025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11/25/2025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11/25/2025</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11/25/2025</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11/25/2025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11/25/2025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11/25/2025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11/25/2025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11/25/2025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11/25/2025</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11/25/2025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11/25/2025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7948-0611-D122-8D49-B4C6119F2521}"/>
              </a:ext>
            </a:extLst>
          </p:cNvPr>
          <p:cNvSpPr>
            <a:spLocks noGrp="1"/>
          </p:cNvSpPr>
          <p:nvPr>
            <p:ph type="ctrTitle"/>
          </p:nvPr>
        </p:nvSpPr>
        <p:spPr>
          <a:xfrm>
            <a:off x="457200" y="457200"/>
            <a:ext cx="4025153" cy="3739896"/>
          </a:xfrm>
        </p:spPr>
        <p:txBody>
          <a:bodyPr anchor="t">
            <a:normAutofit/>
          </a:bodyPr>
          <a:lstStyle/>
          <a:p>
            <a:r>
              <a:rPr lang="en-US"/>
              <a:t>Decision Intelligence: Elevating Judgment and Forecasting</a:t>
            </a:r>
          </a:p>
        </p:txBody>
      </p:sp>
      <p:sp>
        <p:nvSpPr>
          <p:cNvPr id="3" name="Subtitle 2">
            <a:extLst>
              <a:ext uri="{FF2B5EF4-FFF2-40B4-BE49-F238E27FC236}">
                <a16:creationId xmlns:a16="http://schemas.microsoft.com/office/drawing/2014/main" id="{BC8FF7BF-AC7A-296E-3DB3-357A92A10E1F}"/>
              </a:ext>
            </a:extLst>
          </p:cNvPr>
          <p:cNvSpPr>
            <a:spLocks noGrp="1"/>
          </p:cNvSpPr>
          <p:nvPr>
            <p:ph type="subTitle" idx="1"/>
          </p:nvPr>
        </p:nvSpPr>
        <p:spPr>
          <a:xfrm>
            <a:off x="457200" y="5332780"/>
            <a:ext cx="4025153" cy="1016813"/>
          </a:xfrm>
        </p:spPr>
        <p:txBody>
          <a:bodyPr anchor="ctr">
            <a:normAutofit/>
          </a:bodyPr>
          <a:lstStyle/>
          <a:p>
            <a:r>
              <a:rPr lang="en-US"/>
              <a:t>Enhancing insights through data-driven decision-making processes</a:t>
            </a:r>
          </a:p>
        </p:txBody>
      </p:sp>
      <p:pic>
        <p:nvPicPr>
          <p:cNvPr id="4" name="Picture 3">
            <a:extLst>
              <a:ext uri="{FF2B5EF4-FFF2-40B4-BE49-F238E27FC236}">
                <a16:creationId xmlns:a16="http://schemas.microsoft.com/office/drawing/2014/main" id="{09F5B99A-E2DE-4B82-98EB-F81BF3435B4B}"/>
              </a:ext>
            </a:extLst>
          </p:cNvPr>
          <p:cNvPicPr>
            <a:picLocks noChangeAspect="1"/>
          </p:cNvPicPr>
          <p:nvPr/>
        </p:nvPicPr>
        <p:blipFill>
          <a:blip r:embed="rId3"/>
          <a:srcRect l="21828" r="13416" b="-1"/>
          <a:stretch>
            <a:fillRect/>
          </a:stretch>
        </p:blipFill>
        <p:spPr>
          <a:xfrm>
            <a:off x="5029201" y="10"/>
            <a:ext cx="7162800" cy="6857990"/>
          </a:xfrm>
          <a:prstGeom prst="rect">
            <a:avLst/>
          </a:prstGeom>
          <a:noFill/>
        </p:spPr>
      </p:pic>
    </p:spTree>
    <p:extLst>
      <p:ext uri="{BB962C8B-B14F-4D97-AF65-F5344CB8AC3E}">
        <p14:creationId xmlns:p14="http://schemas.microsoft.com/office/powerpoint/2010/main" val="205942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A6017-7B80-7DFD-57B5-72787B9D448D}"/>
              </a:ext>
            </a:extLst>
          </p:cNvPr>
          <p:cNvSpPr>
            <a:spLocks noGrp="1"/>
          </p:cNvSpPr>
          <p:nvPr>
            <p:ph type="ctrTitle"/>
          </p:nvPr>
        </p:nvSpPr>
        <p:spPr>
          <a:xfrm>
            <a:off x="457197" y="3507830"/>
            <a:ext cx="7772400" cy="2944368"/>
          </a:xfrm>
        </p:spPr>
        <p:txBody>
          <a:bodyPr anchor="b">
            <a:normAutofit/>
          </a:bodyPr>
          <a:lstStyle/>
          <a:p>
            <a:r>
              <a:rPr lang="en-US"/>
              <a:t>Introduction &amp; Objectives</a:t>
            </a:r>
          </a:p>
        </p:txBody>
      </p:sp>
    </p:spTree>
    <p:extLst>
      <p:ext uri="{BB962C8B-B14F-4D97-AF65-F5344CB8AC3E}">
        <p14:creationId xmlns:p14="http://schemas.microsoft.com/office/powerpoint/2010/main" val="4270592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BA90-0701-83DE-2B3B-F5B5C1B56739}"/>
              </a:ext>
            </a:extLst>
          </p:cNvPr>
          <p:cNvSpPr>
            <a:spLocks noGrp="1"/>
          </p:cNvSpPr>
          <p:nvPr>
            <p:ph type="title"/>
          </p:nvPr>
        </p:nvSpPr>
        <p:spPr>
          <a:xfrm>
            <a:off x="457199" y="457200"/>
            <a:ext cx="4482573" cy="1453896"/>
          </a:xfrm>
        </p:spPr>
        <p:txBody>
          <a:bodyPr anchor="t">
            <a:normAutofit/>
          </a:bodyPr>
          <a:lstStyle/>
          <a:p>
            <a:r>
              <a:rPr lang="en-US"/>
              <a:t>Defining Decision Intelligence and Its Importance</a:t>
            </a:r>
          </a:p>
        </p:txBody>
      </p:sp>
      <p:pic>
        <p:nvPicPr>
          <p:cNvPr id="5" name="Content Placeholder 4" descr="Team of colleagues analyzing charts">
            <a:extLst>
              <a:ext uri="{FF2B5EF4-FFF2-40B4-BE49-F238E27FC236}">
                <a16:creationId xmlns:a16="http://schemas.microsoft.com/office/drawing/2014/main" id="{B2818525-DDCB-4AC7-B777-40C66436171C}"/>
              </a:ext>
            </a:extLst>
          </p:cNvPr>
          <p:cNvPicPr>
            <a:picLocks noGrp="1" noChangeAspect="1"/>
          </p:cNvPicPr>
          <p:nvPr>
            <p:ph type="pic" sz="quarter" idx="13"/>
          </p:nvPr>
        </p:nvPicPr>
        <p:blipFill>
          <a:blip r:embed="rId3"/>
          <a:srcRect l="22884" r="6233" b="3"/>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518DCE38-B5C8-F2E1-6B05-4B5E89F9C3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Integration of Sciences</a:t>
            </a:r>
          </a:p>
          <a:p>
            <a:pPr marL="0" lvl="1" indent="0">
              <a:buFont typeface="Arial" panose="020B0604020202020204" pitchFamily="34" charset="0"/>
              <a:buNone/>
            </a:pPr>
            <a:r>
              <a:t>Decision Intelligence combines data science, behavioral science, and decision theory to enhance decision-making effectiveness.</a:t>
            </a:r>
            <a:endParaRPr lang="en-US"/>
          </a:p>
          <a:p>
            <a:pPr marL="0" indent="0">
              <a:spcBef>
                <a:spcPts val="2500"/>
              </a:spcBef>
              <a:buFont typeface="Arial" panose="020B0604020202020204" pitchFamily="34" charset="0"/>
              <a:buNone/>
            </a:pPr>
            <a:r>
              <a:rPr lang="en-US" b="1"/>
              <a:t>Reducing Cognitive Biases</a:t>
            </a:r>
          </a:p>
          <a:p>
            <a:pPr marL="0" lvl="1" indent="0">
              <a:buFont typeface="Arial" panose="020B0604020202020204" pitchFamily="34" charset="0"/>
              <a:buNone/>
            </a:pPr>
            <a:r>
              <a:t>It helps reduce cognitive traps and biases that distort data interpretation, leading to better decisions.</a:t>
            </a:r>
            <a:endParaRPr lang="en-US"/>
          </a:p>
          <a:p>
            <a:pPr marL="0" indent="0">
              <a:spcBef>
                <a:spcPts val="2500"/>
              </a:spcBef>
              <a:buFont typeface="Arial" panose="020B0604020202020204" pitchFamily="34" charset="0"/>
              <a:buNone/>
            </a:pPr>
            <a:r>
              <a:rPr lang="en-US" b="1"/>
              <a:t>Structured Probabilistic Reasoning</a:t>
            </a:r>
          </a:p>
          <a:p>
            <a:pPr marL="0" lvl="1" indent="0">
              <a:buFont typeface="Arial" panose="020B0604020202020204" pitchFamily="34" charset="0"/>
              <a:buNone/>
            </a:pPr>
            <a:r>
              <a:t>Emphasizes structured thinking and probabilistic reasoning to communicate uncertainty transparently.</a:t>
            </a:r>
            <a:endParaRPr lang="en-US"/>
          </a:p>
          <a:p>
            <a:pPr marL="0" indent="0">
              <a:spcBef>
                <a:spcPts val="2500"/>
              </a:spcBef>
              <a:buFont typeface="Arial" panose="020B0604020202020204" pitchFamily="34" charset="0"/>
              <a:buNone/>
            </a:pPr>
            <a:r>
              <a:rPr lang="en-US" b="1"/>
              <a:t>Strategic Leadership Role</a:t>
            </a:r>
          </a:p>
          <a:p>
            <a:pPr marL="0" lvl="1" indent="0">
              <a:buFont typeface="Arial" panose="020B0604020202020204" pitchFamily="34" charset="0"/>
              <a:buNone/>
            </a:pPr>
            <a:r>
              <a:t>Enables data professionals to transition from execution to strategic leadership amid complex environments.</a:t>
            </a:r>
            <a:endParaRPr lang="en-US"/>
          </a:p>
        </p:txBody>
      </p:sp>
    </p:spTree>
    <p:extLst>
      <p:ext uri="{BB962C8B-B14F-4D97-AF65-F5344CB8AC3E}">
        <p14:creationId xmlns:p14="http://schemas.microsoft.com/office/powerpoint/2010/main" val="2157091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E320-7744-9096-8D6E-E9906A667C42}"/>
              </a:ext>
            </a:extLst>
          </p:cNvPr>
          <p:cNvSpPr>
            <a:spLocks noGrp="1"/>
          </p:cNvSpPr>
          <p:nvPr>
            <p:ph type="ctrTitle"/>
          </p:nvPr>
        </p:nvSpPr>
        <p:spPr>
          <a:xfrm>
            <a:off x="457197" y="3507830"/>
            <a:ext cx="7772400" cy="2944368"/>
          </a:xfrm>
        </p:spPr>
        <p:txBody>
          <a:bodyPr anchor="b">
            <a:normAutofit/>
          </a:bodyPr>
          <a:lstStyle/>
          <a:p>
            <a:r>
              <a:rPr lang="en-US" sz="6800"/>
              <a:t>Kahneman: Cognitive Biases &amp; Thinking Systems</a:t>
            </a:r>
          </a:p>
        </p:txBody>
      </p:sp>
    </p:spTree>
    <p:extLst>
      <p:ext uri="{BB962C8B-B14F-4D97-AF65-F5344CB8AC3E}">
        <p14:creationId xmlns:p14="http://schemas.microsoft.com/office/powerpoint/2010/main" val="2219311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7DFB-2ACB-D0BF-5F5D-7E290FBC852A}"/>
              </a:ext>
            </a:extLst>
          </p:cNvPr>
          <p:cNvSpPr>
            <a:spLocks noGrp="1"/>
          </p:cNvSpPr>
          <p:nvPr>
            <p:ph type="title"/>
          </p:nvPr>
        </p:nvSpPr>
        <p:spPr>
          <a:xfrm>
            <a:off x="7242526" y="457200"/>
            <a:ext cx="4437283" cy="1410020"/>
          </a:xfrm>
        </p:spPr>
        <p:txBody>
          <a:bodyPr anchor="b">
            <a:normAutofit/>
          </a:bodyPr>
          <a:lstStyle/>
          <a:p>
            <a:r>
              <a:rPr lang="en-US"/>
              <a:t>System 1 vs System 2 and Key Biases</a:t>
            </a:r>
          </a:p>
        </p:txBody>
      </p:sp>
      <p:pic>
        <p:nvPicPr>
          <p:cNvPr id="5" name="Content Placeholder 4" descr="Digital Brain with abstract binary data code">
            <a:extLst>
              <a:ext uri="{FF2B5EF4-FFF2-40B4-BE49-F238E27FC236}">
                <a16:creationId xmlns:a16="http://schemas.microsoft.com/office/drawing/2014/main" id="{45FBBC4F-B5C3-44A4-9CF0-C115694D3FCB}"/>
              </a:ext>
            </a:extLst>
          </p:cNvPr>
          <p:cNvPicPr>
            <a:picLocks noGrp="1" noChangeAspect="1"/>
          </p:cNvPicPr>
          <p:nvPr>
            <p:ph type="pic" sz="quarter" idx="13"/>
          </p:nvPr>
        </p:nvPicPr>
        <p:blipFill>
          <a:blip r:embed="rId3"/>
          <a:srcRect l="2219" r="24279"/>
          <a:stretch>
            <a:fillRect/>
          </a:stretch>
        </p:blipFill>
        <p:spPr>
          <a:xfrm>
            <a:off x="20" y="10"/>
            <a:ext cx="6721048" cy="6857990"/>
          </a:xfrm>
          <a:prstGeom prst="rect">
            <a:avLst/>
          </a:prstGeom>
          <a:noFill/>
        </p:spPr>
      </p:pic>
      <p:sp>
        <p:nvSpPr>
          <p:cNvPr id="4" name="Content Placeholder 3">
            <a:extLst>
              <a:ext uri="{FF2B5EF4-FFF2-40B4-BE49-F238E27FC236}">
                <a16:creationId xmlns:a16="http://schemas.microsoft.com/office/drawing/2014/main" id="{E29ED0D1-6DD2-30BF-456E-007D7A8CBB1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indent="0">
              <a:spcBef>
                <a:spcPts val="2500"/>
              </a:spcBef>
              <a:buFont typeface="Arial" panose="020B0604020202020204" pitchFamily="34" charset="0"/>
              <a:buNone/>
            </a:pPr>
            <a:r>
              <a:rPr lang="en-US" b="1"/>
              <a:t>Dual Modes of Thinking</a:t>
            </a:r>
          </a:p>
          <a:p>
            <a:pPr marL="0" lvl="1" indent="0">
              <a:buFont typeface="Arial" panose="020B0604020202020204" pitchFamily="34" charset="0"/>
              <a:buNone/>
            </a:pPr>
            <a:r>
              <a:t>System 1 is fast, intuitive, and automatic, while System 2 is slow, deliberate, and analytical.</a:t>
            </a:r>
            <a:endParaRPr lang="en-US"/>
          </a:p>
          <a:p>
            <a:pPr marL="0" indent="0">
              <a:spcBef>
                <a:spcPts val="2500"/>
              </a:spcBef>
              <a:buFont typeface="Arial" panose="020B0604020202020204" pitchFamily="34" charset="0"/>
              <a:buNone/>
            </a:pPr>
            <a:r>
              <a:rPr lang="en-US" b="1"/>
              <a:t>Common Cognitive Biases</a:t>
            </a:r>
          </a:p>
          <a:p>
            <a:pPr marL="0" lvl="1" indent="0">
              <a:buFont typeface="Arial" panose="020B0604020202020204" pitchFamily="34" charset="0"/>
              <a:buNone/>
            </a:pPr>
            <a:r>
              <a:t>Overconfidence, anchoring, and availability heuristic can skew data analysis and decision-making.</a:t>
            </a:r>
            <a:endParaRPr lang="en-US"/>
          </a:p>
          <a:p>
            <a:pPr marL="0" indent="0">
              <a:spcBef>
                <a:spcPts val="2500"/>
              </a:spcBef>
              <a:buFont typeface="Arial" panose="020B0604020202020204" pitchFamily="34" charset="0"/>
              <a:buNone/>
            </a:pPr>
            <a:r>
              <a:rPr lang="en-US" b="1"/>
              <a:t>Mitigating Biases</a:t>
            </a:r>
          </a:p>
          <a:p>
            <a:pPr marL="0" lvl="1" indent="0">
              <a:buFont typeface="Arial" panose="020B0604020202020204" pitchFamily="34" charset="0"/>
              <a:buNone/>
            </a:pPr>
            <a:r>
              <a:t>Premortem analysis helps identify hidden assumptions and reduce cognitive blind spots before decisions.</a:t>
            </a:r>
            <a:endParaRPr lang="en-US"/>
          </a:p>
        </p:txBody>
      </p:sp>
    </p:spTree>
    <p:extLst>
      <p:ext uri="{BB962C8B-B14F-4D97-AF65-F5344CB8AC3E}">
        <p14:creationId xmlns:p14="http://schemas.microsoft.com/office/powerpoint/2010/main" val="23805176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F7126-AE89-AD80-8A98-427D3BAF2A5F}"/>
              </a:ext>
            </a:extLst>
          </p:cNvPr>
          <p:cNvSpPr>
            <a:spLocks noGrp="1"/>
          </p:cNvSpPr>
          <p:nvPr>
            <p:ph type="ctrTitle"/>
          </p:nvPr>
        </p:nvSpPr>
        <p:spPr>
          <a:xfrm>
            <a:off x="457197" y="3507830"/>
            <a:ext cx="7772400" cy="2944368"/>
          </a:xfrm>
        </p:spPr>
        <p:txBody>
          <a:bodyPr anchor="b">
            <a:normAutofit/>
          </a:bodyPr>
          <a:lstStyle/>
          <a:p>
            <a:r>
              <a:rPr lang="en-US" sz="6800"/>
              <a:t>Tetlock: Forecasting &amp; Superforecasting</a:t>
            </a:r>
          </a:p>
        </p:txBody>
      </p:sp>
    </p:spTree>
    <p:extLst>
      <p:ext uri="{BB962C8B-B14F-4D97-AF65-F5344CB8AC3E}">
        <p14:creationId xmlns:p14="http://schemas.microsoft.com/office/powerpoint/2010/main" val="260008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F0AD-7074-32F3-D0F9-06CF1A666C95}"/>
              </a:ext>
            </a:extLst>
          </p:cNvPr>
          <p:cNvSpPr>
            <a:spLocks noGrp="1"/>
          </p:cNvSpPr>
          <p:nvPr>
            <p:ph type="title"/>
          </p:nvPr>
        </p:nvSpPr>
        <p:spPr>
          <a:xfrm>
            <a:off x="4541264" y="320040"/>
            <a:ext cx="7062472" cy="1105348"/>
          </a:xfrm>
        </p:spPr>
        <p:txBody>
          <a:bodyPr anchor="b">
            <a:normAutofit/>
          </a:bodyPr>
          <a:lstStyle/>
          <a:p>
            <a:r>
              <a:rPr lang="en-US"/>
              <a:t>Improving Forecast Accuracy Through Structured Methods</a:t>
            </a:r>
          </a:p>
        </p:txBody>
      </p:sp>
      <p:pic>
        <p:nvPicPr>
          <p:cNvPr id="5" name="Content Placeholder 4" descr="3d illustration">
            <a:extLst>
              <a:ext uri="{FF2B5EF4-FFF2-40B4-BE49-F238E27FC236}">
                <a16:creationId xmlns:a16="http://schemas.microsoft.com/office/drawing/2014/main" id="{4D6B19E3-8E80-44BE-9F0D-80227BDB3B84}"/>
              </a:ext>
            </a:extLst>
          </p:cNvPr>
          <p:cNvPicPr>
            <a:picLocks noGrp="1" noChangeAspect="1"/>
          </p:cNvPicPr>
          <p:nvPr>
            <p:ph type="pic" sz="quarter" idx="13"/>
          </p:nvPr>
        </p:nvPicPr>
        <p:blipFill>
          <a:blip r:embed="rId3"/>
          <a:srcRect l="13585" r="27799"/>
          <a:stretch>
            <a:fillRect/>
          </a:stretch>
        </p:blipFill>
        <p:spPr>
          <a:xfrm>
            <a:off x="20" y="1"/>
            <a:ext cx="4019910" cy="6858000"/>
          </a:xfrm>
          <a:prstGeom prst="rect">
            <a:avLst/>
          </a:prstGeom>
          <a:noFill/>
        </p:spPr>
      </p:pic>
      <p:sp>
        <p:nvSpPr>
          <p:cNvPr id="4" name="Content Placeholder 3">
            <a:extLst>
              <a:ext uri="{FF2B5EF4-FFF2-40B4-BE49-F238E27FC236}">
                <a16:creationId xmlns:a16="http://schemas.microsoft.com/office/drawing/2014/main" id="{325D88AD-3C88-0C50-063C-18A89A52B5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indent="0">
              <a:spcBef>
                <a:spcPts val="2500"/>
              </a:spcBef>
              <a:buFont typeface="Arial" panose="020B0604020202020204" pitchFamily="34" charset="0"/>
              <a:buNone/>
            </a:pPr>
            <a:r>
              <a:rPr lang="en-US" b="1"/>
              <a:t>Limitations of Expert Predictions</a:t>
            </a:r>
          </a:p>
          <a:p>
            <a:pPr marL="0" lvl="1" indent="0">
              <a:buFont typeface="Arial" panose="020B0604020202020204" pitchFamily="34" charset="0"/>
              <a:buNone/>
            </a:pPr>
            <a:r>
              <a:t>Experts often perform worse than chance without structured forecasting methods, highlighting the need for rigorous approaches.</a:t>
            </a:r>
            <a:endParaRPr lang="en-US"/>
          </a:p>
          <a:p>
            <a:pPr marL="0" indent="0">
              <a:spcBef>
                <a:spcPts val="2500"/>
              </a:spcBef>
              <a:buFont typeface="Arial" panose="020B0604020202020204" pitchFamily="34" charset="0"/>
              <a:buNone/>
            </a:pPr>
            <a:r>
              <a:rPr lang="en-US" b="1"/>
              <a:t>Superforecasting Techniques</a:t>
            </a:r>
          </a:p>
          <a:p>
            <a:pPr marL="0" lvl="1" indent="0">
              <a:buFont typeface="Arial" panose="020B0604020202020204" pitchFamily="34" charset="0"/>
              <a:buNone/>
            </a:pPr>
            <a:r>
              <a:t>Breaking problems down, Bayesian updating, and probabilistic humility improve forecast accuracy significantly.</a:t>
            </a:r>
            <a:endParaRPr lang="en-US"/>
          </a:p>
          <a:p>
            <a:pPr marL="0" indent="0">
              <a:spcBef>
                <a:spcPts val="2500"/>
              </a:spcBef>
              <a:buFont typeface="Arial" panose="020B0604020202020204" pitchFamily="34" charset="0"/>
              <a:buNone/>
            </a:pPr>
            <a:r>
              <a:rPr lang="en-US" b="1"/>
              <a:t>Continuous Learning and Aggregation</a:t>
            </a:r>
          </a:p>
          <a:p>
            <a:pPr marL="0" lvl="1" indent="0">
              <a:buFont typeface="Arial" panose="020B0604020202020204" pitchFamily="34" charset="0"/>
              <a:buNone/>
            </a:pPr>
            <a:r>
              <a:t>Superforecasters aggregate diverse viewpoints and learn from feedback for better predictions over time.</a:t>
            </a:r>
            <a:endParaRPr lang="en-US"/>
          </a:p>
          <a:p>
            <a:pPr marL="0" indent="0">
              <a:spcBef>
                <a:spcPts val="2500"/>
              </a:spcBef>
              <a:buFont typeface="Arial" panose="020B0604020202020204" pitchFamily="34" charset="0"/>
              <a:buNone/>
            </a:pPr>
            <a:r>
              <a:rPr lang="en-US" b="1"/>
              <a:t>Probabilistic Metrics for Evaluation</a:t>
            </a:r>
          </a:p>
          <a:p>
            <a:pPr marL="0" lvl="1" indent="0">
              <a:buFont typeface="Arial" panose="020B0604020202020204" pitchFamily="34" charset="0"/>
              <a:buNone/>
            </a:pPr>
            <a:r>
              <a:t>Using metrics like the Brier Score helps evaluate and improve the quality of probabilistic forecasts.</a:t>
            </a:r>
            <a:endParaRPr lang="en-US"/>
          </a:p>
        </p:txBody>
      </p:sp>
    </p:spTree>
    <p:extLst>
      <p:ext uri="{BB962C8B-B14F-4D97-AF65-F5344CB8AC3E}">
        <p14:creationId xmlns:p14="http://schemas.microsoft.com/office/powerpoint/2010/main" val="456848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4B21-198C-E248-2420-B5300F9CCB89}"/>
              </a:ext>
            </a:extLst>
          </p:cNvPr>
          <p:cNvSpPr>
            <a:spLocks noGrp="1"/>
          </p:cNvSpPr>
          <p:nvPr>
            <p:ph type="ctrTitle"/>
          </p:nvPr>
        </p:nvSpPr>
        <p:spPr>
          <a:xfrm>
            <a:off x="457197" y="3507830"/>
            <a:ext cx="7772400" cy="2944368"/>
          </a:xfrm>
        </p:spPr>
        <p:txBody>
          <a:bodyPr anchor="b">
            <a:normAutofit/>
          </a:bodyPr>
          <a:lstStyle/>
          <a:p>
            <a:r>
              <a:rPr lang="en-US" sz="6800"/>
              <a:t>Spiegelhalter: Risk, Uncertainty &amp; Communication</a:t>
            </a:r>
          </a:p>
        </p:txBody>
      </p:sp>
    </p:spTree>
    <p:extLst>
      <p:ext uri="{BB962C8B-B14F-4D97-AF65-F5344CB8AC3E}">
        <p14:creationId xmlns:p14="http://schemas.microsoft.com/office/powerpoint/2010/main" val="12102540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07059-7103-175C-910F-3056940A1F0F}"/>
              </a:ext>
            </a:extLst>
          </p:cNvPr>
          <p:cNvSpPr>
            <a:spLocks noGrp="1"/>
          </p:cNvSpPr>
          <p:nvPr>
            <p:ph type="title"/>
          </p:nvPr>
        </p:nvSpPr>
        <p:spPr>
          <a:xfrm>
            <a:off x="457199" y="457200"/>
            <a:ext cx="4482573" cy="1453896"/>
          </a:xfrm>
        </p:spPr>
        <p:txBody>
          <a:bodyPr anchor="t">
            <a:normAutofit/>
          </a:bodyPr>
          <a:lstStyle/>
          <a:p>
            <a:r>
              <a:rPr lang="en-US"/>
              <a:t>Communicating Uncertainty Effectively</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7B6B94E9-316A-4E6D-9A0E-3342CEF9B60A}"/>
              </a:ext>
            </a:extLst>
          </p:cNvPr>
          <p:cNvPicPr>
            <a:picLocks noGrp="1" noChangeAspect="1"/>
          </p:cNvPicPr>
          <p:nvPr>
            <p:ph type="pic" sz="quarter" idx="13"/>
          </p:nvPr>
        </p:nvPicPr>
        <p:blipFill>
          <a:blip r:embed="rId3"/>
          <a:srcRect l="8938" r="4" b="4"/>
          <a:stretch>
            <a:fillRect/>
          </a:stretch>
        </p:blipFill>
        <p:spPr>
          <a:xfrm>
            <a:off x="559502" y="2175642"/>
            <a:ext cx="4380271" cy="4124756"/>
          </a:xfrm>
          <a:prstGeom prst="rect">
            <a:avLst/>
          </a:prstGeom>
          <a:noFill/>
        </p:spPr>
      </p:pic>
      <p:sp>
        <p:nvSpPr>
          <p:cNvPr id="4" name="Content Placeholder 3">
            <a:extLst>
              <a:ext uri="{FF2B5EF4-FFF2-40B4-BE49-F238E27FC236}">
                <a16:creationId xmlns:a16="http://schemas.microsoft.com/office/drawing/2014/main" id="{2E25B02A-4C73-FADD-AA33-D0D0BB87BA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Distinguishing Risk and Uncertainty</a:t>
            </a:r>
          </a:p>
          <a:p>
            <a:pPr marL="0" lvl="1" indent="0">
              <a:buFont typeface="Arial" panose="020B0604020202020204" pitchFamily="34" charset="0"/>
              <a:buNone/>
            </a:pPr>
            <a:r>
              <a:t>Risk involves measurable probabilities, while uncertainty covers unknown unknowns beyond quantification.</a:t>
            </a:r>
            <a:endParaRPr lang="en-US"/>
          </a:p>
          <a:p>
            <a:pPr marL="0" indent="0">
              <a:spcBef>
                <a:spcPts val="2500"/>
              </a:spcBef>
              <a:buFont typeface="Arial" panose="020B0604020202020204" pitchFamily="34" charset="0"/>
              <a:buNone/>
            </a:pPr>
            <a:r>
              <a:rPr lang="en-US" b="1"/>
              <a:t>Using Frequency Formats</a:t>
            </a:r>
          </a:p>
          <a:p>
            <a:pPr marL="0" lvl="1" indent="0">
              <a:buFont typeface="Arial" panose="020B0604020202020204" pitchFamily="34" charset="0"/>
              <a:buNone/>
            </a:pPr>
            <a:r>
              <a:t>Frequency formats like '1 in 100' make probabilities more relatable than vague percentages.</a:t>
            </a:r>
            <a:endParaRPr lang="en-US"/>
          </a:p>
          <a:p>
            <a:pPr marL="0" indent="0">
              <a:spcBef>
                <a:spcPts val="2500"/>
              </a:spcBef>
              <a:buFont typeface="Arial" panose="020B0604020202020204" pitchFamily="34" charset="0"/>
              <a:buNone/>
            </a:pPr>
            <a:r>
              <a:rPr lang="en-US" b="1"/>
              <a:t>Avoiding False Precision</a:t>
            </a:r>
          </a:p>
          <a:p>
            <a:pPr marL="0" lvl="1" indent="0">
              <a:buFont typeface="Arial" panose="020B0604020202020204" pitchFamily="34" charset="0"/>
              <a:buNone/>
            </a:pPr>
            <a:r>
              <a:t>Presenting ranges and confidence intervals prevents misleading single-point estimates and false precision.</a:t>
            </a:r>
            <a:endParaRPr lang="en-US"/>
          </a:p>
          <a:p>
            <a:pPr marL="0" indent="0">
              <a:spcBef>
                <a:spcPts val="2500"/>
              </a:spcBef>
              <a:buFont typeface="Arial" panose="020B0604020202020204" pitchFamily="34" charset="0"/>
              <a:buNone/>
            </a:pPr>
            <a:r>
              <a:rPr lang="en-US" b="1"/>
              <a:t>Building Trust through Clarity</a:t>
            </a:r>
          </a:p>
          <a:p>
            <a:pPr marL="0" lvl="1" indent="0">
              <a:buFont typeface="Arial" panose="020B0604020202020204" pitchFamily="34" charset="0"/>
              <a:buNone/>
            </a:pPr>
            <a:r>
              <a:t>Clear communication of uncertainty strengthens trust and aids better strategic decisions under uncertainty.</a:t>
            </a:r>
            <a:endParaRPr lang="en-US"/>
          </a:p>
        </p:txBody>
      </p:sp>
    </p:spTree>
    <p:extLst>
      <p:ext uri="{BB962C8B-B14F-4D97-AF65-F5344CB8AC3E}">
        <p14:creationId xmlns:p14="http://schemas.microsoft.com/office/powerpoint/2010/main" val="3206178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EE79-7EE2-A8BD-2983-94F300AC3B90}"/>
              </a:ext>
            </a:extLst>
          </p:cNvPr>
          <p:cNvSpPr>
            <a:spLocks noGrp="1"/>
          </p:cNvSpPr>
          <p:nvPr>
            <p:ph type="ctrTitle"/>
          </p:nvPr>
        </p:nvSpPr>
        <p:spPr>
          <a:xfrm>
            <a:off x="457197" y="3507830"/>
            <a:ext cx="7772400" cy="2944368"/>
          </a:xfrm>
        </p:spPr>
        <p:txBody>
          <a:bodyPr anchor="b">
            <a:normAutofit/>
          </a:bodyPr>
          <a:lstStyle/>
          <a:p>
            <a:r>
              <a:rPr lang="en-US"/>
              <a:t>Integration Framework</a:t>
            </a:r>
          </a:p>
        </p:txBody>
      </p:sp>
    </p:spTree>
    <p:extLst>
      <p:ext uri="{BB962C8B-B14F-4D97-AF65-F5344CB8AC3E}">
        <p14:creationId xmlns:p14="http://schemas.microsoft.com/office/powerpoint/2010/main" val="2223245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49B4B-14FE-CA53-538F-64E0983E8BA6}"/>
              </a:ext>
            </a:extLst>
          </p:cNvPr>
          <p:cNvSpPr>
            <a:spLocks noGrp="1"/>
          </p:cNvSpPr>
          <p:nvPr>
            <p:ph type="title"/>
          </p:nvPr>
        </p:nvSpPr>
        <p:spPr>
          <a:xfrm>
            <a:off x="7242526" y="457200"/>
            <a:ext cx="4437283" cy="1410020"/>
          </a:xfrm>
        </p:spPr>
        <p:txBody>
          <a:bodyPr anchor="b">
            <a:normAutofit/>
          </a:bodyPr>
          <a:lstStyle/>
          <a:p>
            <a:r>
              <a:rPr lang="en-US"/>
              <a:t>Combining Insights into a Practical Framework</a:t>
            </a:r>
          </a:p>
        </p:txBody>
      </p:sp>
      <p:pic>
        <p:nvPicPr>
          <p:cNvPr id="5" name="Content Placeholder 4" descr="3D illustration.">
            <a:extLst>
              <a:ext uri="{FF2B5EF4-FFF2-40B4-BE49-F238E27FC236}">
                <a16:creationId xmlns:a16="http://schemas.microsoft.com/office/drawing/2014/main" id="{4744FEBF-58DB-49CD-A0FD-9A3A43A34152}"/>
              </a:ext>
            </a:extLst>
          </p:cNvPr>
          <p:cNvPicPr>
            <a:picLocks noGrp="1" noChangeAspect="1"/>
          </p:cNvPicPr>
          <p:nvPr>
            <p:ph type="pic" sz="quarter" idx="13"/>
          </p:nvPr>
        </p:nvPicPr>
        <p:blipFill>
          <a:blip r:embed="rId3"/>
          <a:srcRect r="26498"/>
          <a:stretch>
            <a:fillRect/>
          </a:stretch>
        </p:blipFill>
        <p:spPr>
          <a:xfrm>
            <a:off x="20" y="10"/>
            <a:ext cx="6721048" cy="6857990"/>
          </a:xfrm>
          <a:prstGeom prst="rect">
            <a:avLst/>
          </a:prstGeom>
          <a:noFill/>
        </p:spPr>
      </p:pic>
      <p:sp>
        <p:nvSpPr>
          <p:cNvPr id="4" name="Content Placeholder 3">
            <a:extLst>
              <a:ext uri="{FF2B5EF4-FFF2-40B4-BE49-F238E27FC236}">
                <a16:creationId xmlns:a16="http://schemas.microsoft.com/office/drawing/2014/main" id="{F7881393-B7F9-8942-1161-F2AC1F8502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indent="0">
              <a:spcBef>
                <a:spcPts val="2500"/>
              </a:spcBef>
              <a:buFont typeface="Arial" panose="020B0604020202020204" pitchFamily="34" charset="0"/>
              <a:buNone/>
            </a:pPr>
            <a:r>
              <a:rPr lang="en-US" b="1"/>
              <a:t>Diagnose Cognitive Biases</a:t>
            </a:r>
          </a:p>
          <a:p>
            <a:pPr marL="0" lvl="1" indent="0">
              <a:buFont typeface="Arial" panose="020B0604020202020204" pitchFamily="34" charset="0"/>
              <a:buNone/>
            </a:pPr>
            <a:r>
              <a:t>Diagnose focuses on identifying cognitive traps and biases that can distort analysis and decision-making processes.</a:t>
            </a:r>
            <a:endParaRPr lang="en-US"/>
          </a:p>
          <a:p>
            <a:pPr marL="0" indent="0">
              <a:spcBef>
                <a:spcPts val="2500"/>
              </a:spcBef>
              <a:buFont typeface="Arial" panose="020B0604020202020204" pitchFamily="34" charset="0"/>
              <a:buNone/>
            </a:pPr>
            <a:r>
              <a:rPr lang="en-US" b="1"/>
              <a:t>Design Structured Forecasts</a:t>
            </a:r>
          </a:p>
          <a:p>
            <a:pPr marL="0" lvl="1" indent="0">
              <a:buFont typeface="Arial" panose="020B0604020202020204" pitchFamily="34" charset="0"/>
              <a:buNone/>
            </a:pPr>
            <a:r>
              <a:t>Design emphasizes structuring forecasts with probabilistic thinking and superforecasting to enhance rigor and adaptability.</a:t>
            </a:r>
            <a:endParaRPr lang="en-US"/>
          </a:p>
          <a:p>
            <a:pPr marL="0" indent="0">
              <a:spcBef>
                <a:spcPts val="2500"/>
              </a:spcBef>
              <a:buFont typeface="Arial" panose="020B0604020202020204" pitchFamily="34" charset="0"/>
              <a:buNone/>
            </a:pPr>
            <a:r>
              <a:rPr lang="en-US" b="1"/>
              <a:t>Deliver Transparent Communication</a:t>
            </a:r>
          </a:p>
          <a:p>
            <a:pPr marL="0" lvl="1" indent="0">
              <a:buFont typeface="Arial" panose="020B0604020202020204" pitchFamily="34" charset="0"/>
              <a:buNone/>
            </a:pPr>
            <a:r>
              <a:t>Deliver stresses transparent communication of risk and uncertainty to avoid false precision and build stakeholder trust.</a:t>
            </a:r>
            <a:endParaRPr lang="en-US"/>
          </a:p>
        </p:txBody>
      </p:sp>
    </p:spTree>
    <p:extLst>
      <p:ext uri="{BB962C8B-B14F-4D97-AF65-F5344CB8AC3E}">
        <p14:creationId xmlns:p14="http://schemas.microsoft.com/office/powerpoint/2010/main" val="219278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F2DC-9B16-568E-4F4E-418B4386391D}"/>
              </a:ext>
            </a:extLst>
          </p:cNvPr>
          <p:cNvSpPr>
            <a:spLocks noGrp="1"/>
          </p:cNvSpPr>
          <p:nvPr>
            <p:ph type="ctrTitle"/>
          </p:nvPr>
        </p:nvSpPr>
        <p:spPr>
          <a:xfrm>
            <a:off x="457197" y="3507830"/>
            <a:ext cx="7772400" cy="2944368"/>
          </a:xfrm>
        </p:spPr>
        <p:txBody>
          <a:bodyPr anchor="b">
            <a:normAutofit/>
          </a:bodyPr>
          <a:lstStyle/>
          <a:p>
            <a:r>
              <a:rPr lang="en-US"/>
              <a:t>Closing Thoughts</a:t>
            </a:r>
          </a:p>
        </p:txBody>
      </p:sp>
    </p:spTree>
    <p:extLst>
      <p:ext uri="{BB962C8B-B14F-4D97-AF65-F5344CB8AC3E}">
        <p14:creationId xmlns:p14="http://schemas.microsoft.com/office/powerpoint/2010/main" val="14231976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1D919-EA6B-B2F3-90DA-8F603CCCF78C}"/>
              </a:ext>
            </a:extLst>
          </p:cNvPr>
          <p:cNvSpPr>
            <a:spLocks noGrp="1"/>
          </p:cNvSpPr>
          <p:nvPr>
            <p:ph type="title"/>
          </p:nvPr>
        </p:nvSpPr>
        <p:spPr>
          <a:xfrm>
            <a:off x="457200" y="457200"/>
            <a:ext cx="4380272" cy="1453896"/>
          </a:xfrm>
        </p:spPr>
        <p:txBody>
          <a:bodyPr anchor="t">
            <a:normAutofit/>
          </a:bodyPr>
          <a:lstStyle/>
          <a:p>
            <a:r>
              <a:rPr lang="en-US"/>
              <a:t>Better Minds + Better Methods = Better Decisions</a:t>
            </a:r>
          </a:p>
        </p:txBody>
      </p:sp>
      <p:pic>
        <p:nvPicPr>
          <p:cNvPr id="5" name="Content Placeholder 4" descr="Creative Thinking">
            <a:extLst>
              <a:ext uri="{FF2B5EF4-FFF2-40B4-BE49-F238E27FC236}">
                <a16:creationId xmlns:a16="http://schemas.microsoft.com/office/drawing/2014/main" id="{C50A5A96-5908-4EE0-B816-8623DB2BE8A3}"/>
              </a:ext>
            </a:extLst>
          </p:cNvPr>
          <p:cNvPicPr>
            <a:picLocks noGrp="1" noChangeAspect="1"/>
          </p:cNvPicPr>
          <p:nvPr>
            <p:ph type="pic" sz="quarter" idx="13"/>
          </p:nvPr>
        </p:nvPicPr>
        <p:blipFill>
          <a:blip r:embed="rId3"/>
          <a:srcRect l="10555" r="1" b="1"/>
          <a:stretch>
            <a:fillRect/>
          </a:stretch>
        </p:blipFill>
        <p:spPr>
          <a:xfrm>
            <a:off x="20" y="2175642"/>
            <a:ext cx="5584186" cy="4682358"/>
          </a:xfrm>
          <a:prstGeom prst="rect">
            <a:avLst/>
          </a:prstGeom>
          <a:noFill/>
        </p:spPr>
      </p:pic>
      <p:sp>
        <p:nvSpPr>
          <p:cNvPr id="4" name="Content Placeholder 3">
            <a:extLst>
              <a:ext uri="{FF2B5EF4-FFF2-40B4-BE49-F238E27FC236}">
                <a16:creationId xmlns:a16="http://schemas.microsoft.com/office/drawing/2014/main" id="{FA7C1739-46F4-7E90-84DC-02EAAD6F7E3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Cognitive Awareness</a:t>
            </a:r>
          </a:p>
          <a:p>
            <a:pPr marL="0" lvl="1" indent="0">
              <a:buFont typeface="Arial" panose="020B0604020202020204" pitchFamily="34" charset="0"/>
              <a:buNone/>
            </a:pPr>
            <a:r>
              <a:t>Recognizing and mitigating biases is essential for improving judgment and decision-making quality.</a:t>
            </a:r>
            <a:endParaRPr lang="en-US"/>
          </a:p>
          <a:p>
            <a:pPr marL="0" indent="0">
              <a:spcBef>
                <a:spcPts val="2500"/>
              </a:spcBef>
              <a:buFont typeface="Arial" panose="020B0604020202020204" pitchFamily="34" charset="0"/>
              <a:buNone/>
            </a:pPr>
            <a:r>
              <a:rPr lang="en-US" b="1"/>
              <a:t>Structured Forecasting</a:t>
            </a:r>
          </a:p>
          <a:p>
            <a:pPr marL="0" lvl="1" indent="0">
              <a:buFont typeface="Arial" panose="020B0604020202020204" pitchFamily="34" charset="0"/>
              <a:buNone/>
            </a:pPr>
            <a:r>
              <a:t>Using structured forecasting techniques enhances judgment accuracy and reliability in uncertain environments.</a:t>
            </a:r>
            <a:endParaRPr lang="en-US"/>
          </a:p>
          <a:p>
            <a:pPr marL="0" indent="0">
              <a:spcBef>
                <a:spcPts val="2500"/>
              </a:spcBef>
              <a:buFont typeface="Arial" panose="020B0604020202020204" pitchFamily="34" charset="0"/>
              <a:buNone/>
            </a:pPr>
            <a:r>
              <a:rPr lang="en-US" b="1"/>
              <a:t>Communicating Uncertainty</a:t>
            </a:r>
          </a:p>
          <a:p>
            <a:pPr marL="0" lvl="1" indent="0">
              <a:buFont typeface="Arial" panose="020B0604020202020204" pitchFamily="34" charset="0"/>
              <a:buNone/>
            </a:pPr>
            <a:r>
              <a:t>Clear communication of uncertainty helps organizations make transparent and resilient decisions.</a:t>
            </a:r>
            <a:endParaRPr lang="en-US"/>
          </a:p>
          <a:p>
            <a:pPr marL="0" indent="0">
              <a:spcBef>
                <a:spcPts val="2500"/>
              </a:spcBef>
              <a:buFont typeface="Arial" panose="020B0604020202020204" pitchFamily="34" charset="0"/>
              <a:buNone/>
            </a:pPr>
            <a:r>
              <a:rPr lang="en-US" b="1"/>
              <a:t>Synergy for Better Decisions</a:t>
            </a:r>
          </a:p>
          <a:p>
            <a:pPr marL="0" lvl="1" indent="0">
              <a:buFont typeface="Arial" panose="020B0604020202020204" pitchFamily="34" charset="0"/>
              <a:buNone/>
            </a:pPr>
            <a:r>
              <a:t>Combining behavioral insights with probabilistic methods leads to strategic and informed decision-making.</a:t>
            </a:r>
            <a:endParaRPr lang="en-US"/>
          </a:p>
        </p:txBody>
      </p:sp>
    </p:spTree>
    <p:extLst>
      <p:ext uri="{BB962C8B-B14F-4D97-AF65-F5344CB8AC3E}">
        <p14:creationId xmlns:p14="http://schemas.microsoft.com/office/powerpoint/2010/main" val="1035123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2.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1006</TotalTime>
  <Words>4</Words>
  <Application>Microsoft Office PowerPoint</Application>
  <PresentationFormat>Widescreen</PresentationFormat>
  <Paragraphs>2</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Bevel</vt:lpstr>
      <vt:lpstr>Decision Intelligence: Elevating Judgment and Forecasting</vt:lpstr>
      <vt:lpstr>Introduction &amp; Objectives</vt:lpstr>
      <vt:lpstr>Defining Decision Intelligence and Its Importance</vt:lpstr>
      <vt:lpstr>Kahneman: Cognitive Biases &amp; Thinking Systems</vt:lpstr>
      <vt:lpstr>System 1 vs System 2 and Key Biases</vt:lpstr>
      <vt:lpstr>Tetlock: Forecasting &amp; Superforecasting</vt:lpstr>
      <vt:lpstr>Improving Forecast Accuracy Through Structured Methods</vt:lpstr>
      <vt:lpstr>Spiegelhalter: Risk, Uncertainty &amp; Communication</vt:lpstr>
      <vt:lpstr>Communicating Uncertainty Effectively</vt:lpstr>
      <vt:lpstr>Integration Framework</vt:lpstr>
      <vt:lpstr>Combining Insights into a Practical Framework</vt:lpstr>
      <vt:lpstr>Closing Thoughts</vt:lpstr>
      <vt:lpstr>Better Minds + Better Methods = Better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2025-08-21T02:25:28Z</dcterms:created>
  <dcterms:modified xsi:type="dcterms:W3CDTF">2025-11-25T15:48:26Z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